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28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822960"/>
            <a:ext cx="10728655" cy="5212080"/>
          </a:xfrm>
          <a:prstGeom prst="roundRect">
            <a:avLst/>
          </a:prstGeom>
          <a:solidFill>
            <a:srgbClr val="082C6E"/>
          </a:solidFill>
          <a:ln w="25400">
            <a:solidFill>
              <a:srgbClr val="4A9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097280"/>
            <a:ext cx="9997135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6400" b="1">
                <a:solidFill>
                  <a:srgbClr val="FFFFFF"/>
                </a:solidFill>
              </a:defRPr>
            </a:pPr>
            <a:r>
              <a:t>R-LOGIN</a:t>
            </a:r>
          </a:p>
          <a:p>
            <a:pPr>
              <a:spcAft>
                <a:spcPts val="2000"/>
              </a:spcAft>
              <a:defRPr sz="2800" b="1">
                <a:solidFill>
                  <a:srgbClr val="4A90E2"/>
                </a:solidFill>
              </a:defRPr>
            </a:pPr>
            <a:r>
              <a:t>Campus Connectivity &amp; Credential Manager</a:t>
            </a:r>
          </a:p>
          <a:p>
            <a:pPr>
              <a:spcAft>
                <a:spcPts val="2800"/>
              </a:spcAft>
              <a:defRPr sz="1800">
                <a:solidFill>
                  <a:srgbClr val="E2E8F0"/>
                </a:solidFill>
              </a:defRPr>
            </a:pPr>
            <a:r>
              <a:t>A Secure Android Application for One-Tap Campus Access &amp; Attendance Analytics</a:t>
            </a:r>
          </a:p>
          <a:p>
            <a:pPr>
              <a:spcAft>
                <a:spcPts val="2400"/>
              </a:spcAft>
              <a:defRPr sz="1500">
                <a:solidFill>
                  <a:srgbClr val="94A3B8"/>
                </a:solidFill>
              </a:defRPr>
            </a:pPr>
            <a:r>
              <a:t>Tech Stack: Java SE 11  |  Android SDK (API 24-34)  |  AES-128 GCM  |  Android KeyStore  |  SQLite  |  Material 3</a:t>
            </a:r>
          </a:p>
          <a:p>
            <a:pPr>
              <a:defRPr sz="1600" b="1">
                <a:solidFill>
                  <a:srgbClr val="4A90E2"/>
                </a:solidFill>
              </a:defRPr>
            </a:pPr>
            <a:r>
              <a:t>Master of Computer Applications (MCA) — Technical Project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028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002868"/>
                </a:solidFill>
              </a:defRPr>
            </a:pPr>
            <a:r>
              <a:t>1. M-WiFi Module — Files Used &amp; How It Works</a:t>
            </a:r>
          </a:p>
          <a:p>
            <a:pPr>
              <a:defRPr sz="1500">
                <a:solidFill>
                  <a:srgbClr val="64748B"/>
                </a:solidFill>
              </a:defRPr>
            </a:pPr>
            <a:r>
              <a:t>Automated background HTTP captive portal authentication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175504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920240"/>
            <a:ext cx="4626864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4A90E2"/>
                </a:solidFill>
              </a:defRPr>
            </a:pPr>
            <a:r>
              <a:t>FILES USED &amp; ROLES</a:t>
            </a:r>
          </a:p>
          <a:p>
            <a:pPr>
              <a:spcAft>
                <a:spcPts val="1600"/>
              </a:spcAft>
              <a:defRPr sz="2200" b="1">
                <a:solidFill>
                  <a:srgbClr val="002868"/>
                </a:solidFill>
              </a:defRPr>
            </a:pPr>
            <a:r>
              <a:t>Which Files Are Used for Why</a:t>
            </a:r>
          </a:p>
          <a:p>
            <a:pPr>
              <a:spcAft>
                <a:spcPts val="1400"/>
              </a:spcAft>
              <a:defRPr sz="1500">
                <a:solidFill>
                  <a:srgbClr val="1E293B"/>
                </a:solidFill>
              </a:defRPr>
            </a:pPr>
            <a:r>
              <a:t>• Net.java: Background networking engine containing loginWifi(context, user, pass).</a:t>
            </a:r>
          </a:p>
          <a:p>
            <a:pPr>
              <a:spcAft>
                <a:spcPts val="1400"/>
              </a:spcAft>
              <a:defRPr sz="1500">
                <a:solidFill>
                  <a:srgbClr val="1E293B"/>
                </a:solidFill>
              </a:defRPr>
            </a:pPr>
            <a:r>
              <a:t>• MainActivity.java: Trigger activity that initiates M-WiFi login when 'Connect' is tapped.</a:t>
            </a:r>
          </a:p>
          <a:p>
            <a:pPr>
              <a:spcAft>
                <a:spcPts val="1400"/>
              </a:spcAft>
              <a:defRPr sz="1500">
                <a:solidFill>
                  <a:srgbClr val="1E293B"/>
                </a:solidFill>
              </a:defRPr>
            </a:pPr>
            <a:r>
              <a:t>• Db.java: SQLite helper that queries stored credentials for 'WIFI'.</a:t>
            </a:r>
          </a:p>
          <a:p>
            <a:pPr>
              <a:spcAft>
                <a:spcPts val="1400"/>
              </a:spcAft>
              <a:defRPr sz="1500">
                <a:solidFill>
                  <a:srgbClr val="1E293B"/>
                </a:solidFill>
              </a:defRPr>
            </a:pPr>
            <a:r>
              <a:t>• Crypt.java: Cryptography manager that decrypts the stored password in-memory.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72784" y="1691640"/>
            <a:ext cx="5175504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47104" y="1920240"/>
            <a:ext cx="4626864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4A90E2"/>
                </a:solidFill>
              </a:defRPr>
            </a:pPr>
            <a:r>
              <a:t>EXECUTION FLOW</a:t>
            </a:r>
          </a:p>
          <a:p>
            <a:pPr>
              <a:spcAft>
                <a:spcPts val="1600"/>
              </a:spcAft>
              <a:defRPr sz="2200" b="1">
                <a:solidFill>
                  <a:srgbClr val="002868"/>
                </a:solidFill>
              </a:defRPr>
            </a:pPr>
            <a:r>
              <a:t>Basic Idea of What Is Happening</a:t>
            </a:r>
          </a:p>
          <a:p>
            <a:pPr>
              <a:spcAft>
                <a:spcPts val="1400"/>
              </a:spcAft>
              <a:defRPr sz="1500">
                <a:solidFill>
                  <a:srgbClr val="1E293B"/>
                </a:solidFill>
              </a:defRPr>
            </a:pPr>
            <a:r>
              <a:t>• 1. Non-Blocking Execution: Runs off the main thread via Executors.newSingleThreadExecutor().</a:t>
            </a:r>
          </a:p>
          <a:p>
            <a:pPr>
              <a:spcAft>
                <a:spcPts val="1400"/>
              </a:spcAft>
              <a:defRPr sz="1500">
                <a:solidFill>
                  <a:srgbClr val="1E293B"/>
                </a:solidFill>
              </a:defRPr>
            </a:pPr>
            <a:r>
              <a:t>• 2. HTTP POST Request: Sends mode=191&amp;username=...&amp;password=...&amp;a=timestamp to http://172.16.0.20:8090/login.xml.</a:t>
            </a:r>
          </a:p>
          <a:p>
            <a:pPr>
              <a:spcAft>
                <a:spcPts val="1400"/>
              </a:spcAft>
              <a:defRPr sz="1500">
                <a:solidFill>
                  <a:srgbClr val="1E293B"/>
                </a:solidFill>
              </a:defRPr>
            </a:pPr>
            <a:r>
              <a:t>• 3. XML Evaluation: Reads response and parses &lt;status&gt;LIVE&lt;/status&gt; vs &lt;status&gt;REJECTED&lt;/status&gt;.</a:t>
            </a:r>
          </a:p>
          <a:p>
            <a:pPr>
              <a:spcAft>
                <a:spcPts val="1400"/>
              </a:spcAft>
              <a:defRPr sz="1500">
                <a:solidFill>
                  <a:srgbClr val="1E293B"/>
                </a:solidFill>
              </a:defRPr>
            </a:pPr>
            <a:r>
              <a:t>• 4. Toast Feedback: Uses Handler(Looper.getMainLooper()) to post connection status to UI.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028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002868"/>
                </a:solidFill>
              </a:defRPr>
            </a:pPr>
            <a:r>
              <a:t>2. Web Portals (Fedena &amp; LMS) — Files Used &amp; How It Works</a:t>
            </a:r>
          </a:p>
          <a:p>
            <a:pPr>
              <a:defRPr sz="1500">
                <a:solidFill>
                  <a:srgbClr val="64748B"/>
                </a:solidFill>
              </a:defRPr>
            </a:pPr>
            <a:r>
              <a:t>Automated browser sign-in &amp; CSRF token preservation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175504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920240"/>
            <a:ext cx="4626864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4A90E2"/>
                </a:solidFill>
              </a:defRPr>
            </a:pPr>
            <a:r>
              <a:t>FILES USED &amp; ROLES</a:t>
            </a:r>
          </a:p>
          <a:p>
            <a:pPr>
              <a:spcAft>
                <a:spcPts val="1600"/>
              </a:spcAft>
              <a:defRPr sz="2200" b="1">
                <a:solidFill>
                  <a:srgbClr val="002868"/>
                </a:solidFill>
              </a:defRPr>
            </a:pPr>
            <a:r>
              <a:t>Which Files Are Used for Why</a:t>
            </a:r>
          </a:p>
          <a:p>
            <a:pPr>
              <a:spcAft>
                <a:spcPts val="1400"/>
              </a:spcAft>
              <a:defRPr sz="1500">
                <a:solidFill>
                  <a:srgbClr val="1E293B"/>
                </a:solidFill>
              </a:defRPr>
            </a:pPr>
            <a:r>
              <a:t>• WebActivity.java: Custom browser activity with Material 3 Toolbar &amp; 'Open in Chrome' option.</a:t>
            </a:r>
          </a:p>
          <a:p>
            <a:pPr>
              <a:spcAft>
                <a:spcPts val="1400"/>
              </a:spcAft>
              <a:defRPr sz="1500">
                <a:solidFill>
                  <a:srgbClr val="1E293B"/>
                </a:solidFill>
              </a:defRPr>
            </a:pPr>
            <a:r>
              <a:t>• activity_web.xml &amp; menu_web.xml: UI layout containing top toolbar, webview &amp; menu.</a:t>
            </a:r>
          </a:p>
          <a:p>
            <a:pPr>
              <a:spcAft>
                <a:spcPts val="1400"/>
              </a:spcAft>
              <a:defRPr sz="1500">
                <a:solidFill>
                  <a:srgbClr val="1E293B"/>
                </a:solidFill>
              </a:defRPr>
            </a:pPr>
            <a:r>
              <a:t>• MainActivity.java: Passes target portal URL, username, and decrypted password to WebActivity.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72784" y="1691640"/>
            <a:ext cx="5175504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47104" y="1920240"/>
            <a:ext cx="4626864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4A90E2"/>
                </a:solidFill>
              </a:defRPr>
            </a:pPr>
            <a:r>
              <a:t>EXECUTION FLOW</a:t>
            </a:r>
          </a:p>
          <a:p>
            <a:pPr>
              <a:spcAft>
                <a:spcPts val="1600"/>
              </a:spcAft>
              <a:defRPr sz="2200" b="1">
                <a:solidFill>
                  <a:srgbClr val="002868"/>
                </a:solidFill>
              </a:defRPr>
            </a:pPr>
            <a:r>
              <a:t>Basic Idea of What Is Happening</a:t>
            </a:r>
          </a:p>
          <a:p>
            <a:pPr>
              <a:spcAft>
                <a:spcPts val="1400"/>
              </a:spcAft>
              <a:defRPr sz="1500">
                <a:solidFill>
                  <a:srgbClr val="1E293B"/>
                </a:solidFill>
              </a:defRPr>
            </a:pPr>
            <a:r>
              <a:t>• 1. Portal Launch: Loads target site (https://fedena.rajagiri.edu/ or LMS Moodle).</a:t>
            </a:r>
          </a:p>
          <a:p>
            <a:pPr>
              <a:spcAft>
                <a:spcPts val="1400"/>
              </a:spcAft>
              <a:defRPr sz="1500">
                <a:solidFill>
                  <a:srgbClr val="1E293B"/>
                </a:solidFill>
              </a:defRPr>
            </a:pPr>
            <a:r>
              <a:t>• 2. JavaScript Form Injection: Fills #user_username and #user_password and clicks submit.</a:t>
            </a:r>
          </a:p>
          <a:p>
            <a:pPr>
              <a:spcAft>
                <a:spcPts val="1400"/>
              </a:spcAft>
              <a:defRPr sz="1500">
                <a:solidFill>
                  <a:srgbClr val="1E293B"/>
                </a:solidFill>
              </a:defRPr>
            </a:pPr>
            <a:r>
              <a:t>• 3. CSRF Preservation: Submits form in Fedena's native context to preserve Rails authenticity_token.</a:t>
            </a:r>
          </a:p>
          <a:p>
            <a:pPr>
              <a:spcAft>
                <a:spcPts val="1400"/>
              </a:spcAft>
              <a:defRPr sz="1500">
                <a:solidFill>
                  <a:srgbClr val="1E293B"/>
                </a:solidFill>
              </a:defRPr>
            </a:pPr>
            <a:r>
              <a:t>• 4. Logout Safety Guard: autoLoggedIn state flag restricts injection to initial launch, allowing normal logout.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028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002868"/>
                </a:solidFill>
              </a:defRPr>
            </a:pPr>
            <a:r>
              <a:t>3. Attendance Report Engine — Files Used &amp; How It Works</a:t>
            </a:r>
          </a:p>
          <a:p>
            <a:pPr>
              <a:defRPr sz="1500">
                <a:solidFill>
                  <a:srgbClr val="64748B"/>
                </a:solidFill>
              </a:defRPr>
            </a:pPr>
            <a:r>
              <a:t>Native DOM scraping, Total Classes Held algorithm &amp; sticky OD toggle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175504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920240"/>
            <a:ext cx="4626864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4A90E2"/>
                </a:solidFill>
              </a:defRPr>
            </a:pPr>
            <a:r>
              <a:t>FILES USED &amp; ROLES</a:t>
            </a:r>
          </a:p>
          <a:p>
            <a:pPr>
              <a:spcAft>
                <a:spcPts val="1600"/>
              </a:spcAft>
              <a:defRPr sz="2200" b="1">
                <a:solidFill>
                  <a:srgbClr val="002868"/>
                </a:solidFill>
              </a:defRPr>
            </a:pPr>
            <a:r>
              <a:t>Which Files Are Used for Why</a:t>
            </a:r>
          </a:p>
          <a:p>
            <a:pPr>
              <a:spcAft>
                <a:spcPts val="1400"/>
              </a:spcAft>
              <a:defRPr sz="1500">
                <a:solidFill>
                  <a:srgbClr val="1E293B"/>
                </a:solidFill>
              </a:defRPr>
            </a:pPr>
            <a:r>
              <a:t>• ReportActivity.java: Hosts offscreen DOM scraper and native attendance UI.</a:t>
            </a:r>
          </a:p>
          <a:p>
            <a:pPr>
              <a:spcAft>
                <a:spcPts val="1400"/>
              </a:spcAft>
              <a:defRPr sz="1500">
                <a:solidFill>
                  <a:srgbClr val="1E293B"/>
                </a:solidFill>
              </a:defRPr>
            </a:pPr>
            <a:r>
              <a:t>• ReportAdapter.java &amp; SubjectItem.java: RecyclerView adapter and data model rendering subject cards.</a:t>
            </a:r>
          </a:p>
          <a:p>
            <a:pPr>
              <a:spcAft>
                <a:spcPts val="1400"/>
              </a:spcAft>
              <a:defRPr sz="1500">
                <a:solidFill>
                  <a:srgbClr val="1E293B"/>
                </a:solidFill>
              </a:defRPr>
            </a:pPr>
            <a:r>
              <a:t>• activity_report.xml &amp; item_subject.xml: Material 3 card layout with sticky header OD toggle switch.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72784" y="1691640"/>
            <a:ext cx="5175504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47104" y="1920240"/>
            <a:ext cx="4626864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4A90E2"/>
                </a:solidFill>
              </a:defRPr>
            </a:pPr>
            <a:r>
              <a:t>EXECUTION FLOW</a:t>
            </a:r>
          </a:p>
          <a:p>
            <a:pPr>
              <a:spcAft>
                <a:spcPts val="1600"/>
              </a:spcAft>
              <a:defRPr sz="2200" b="1">
                <a:solidFill>
                  <a:srgbClr val="002868"/>
                </a:solidFill>
              </a:defRPr>
            </a:pPr>
            <a:r>
              <a:t>Basic Idea of What Is Happening</a:t>
            </a:r>
          </a:p>
          <a:p>
            <a:pPr>
              <a:spcAft>
                <a:spcPts val="1400"/>
              </a:spcAft>
              <a:defRPr sz="1500">
                <a:solidFill>
                  <a:srgbClr val="1E293B"/>
                </a:solidFill>
              </a:defRPr>
            </a:pPr>
            <a:r>
              <a:t>• 1. Offscreen Scraping: Offscreen WebView logs into Fedena and loads consolidated attendance report.</a:t>
            </a:r>
          </a:p>
          <a:p>
            <a:pPr>
              <a:spcAft>
                <a:spcPts val="1400"/>
              </a:spcAft>
              <a:defRPr sz="1500">
                <a:solidFill>
                  <a:srgbClr val="1E293B"/>
                </a:solidFill>
              </a:defRPr>
            </a:pPr>
            <a:r>
              <a:t>• 2. textContent DOM Extraction: Uses textContent to extract table cells into JSON via Bridge.onData().</a:t>
            </a:r>
          </a:p>
          <a:p>
            <a:pPr>
              <a:spcAft>
                <a:spcPts val="1400"/>
              </a:spcAft>
              <a:defRPr sz="1500">
                <a:solidFill>
                  <a:srgbClr val="1E293B"/>
                </a:solidFill>
              </a:defRPr>
            </a:pPr>
            <a:r>
              <a:t>• 3. Total Classes Held Formula: Calculates T = Round((Attended / Pct) * 100) per subject.</a:t>
            </a:r>
          </a:p>
          <a:p>
            <a:pPr>
              <a:spcAft>
                <a:spcPts val="1400"/>
              </a:spcAft>
              <a:defRPr sz="1500">
                <a:solidFill>
                  <a:srgbClr val="1E293B"/>
                </a:solidFill>
              </a:defRPr>
            </a:pPr>
            <a:r>
              <a:t>• 4. Sticky Header Toggle: Pinned [Without OD | With Duty Leave] switch stays fixed at top while scrolling cards.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028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002868"/>
                </a:solidFill>
              </a:defRPr>
            </a:pPr>
            <a:r>
              <a:t>4. CS Concepts, Security Vault &amp; Tech Stack Summary</a:t>
            </a:r>
          </a:p>
          <a:p>
            <a:pPr>
              <a:defRPr sz="1500">
                <a:solidFill>
                  <a:srgbClr val="64748B"/>
                </a:solidFill>
              </a:defRPr>
            </a:pPr>
            <a:r>
              <a:t>Hardware cryptography, sandboxed SQLite storage &amp; tech stack overview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175504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920240"/>
            <a:ext cx="4626864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4A90E2"/>
                </a:solidFill>
              </a:defRPr>
            </a:pPr>
            <a:r>
              <a:t>FILES USED &amp; ROLES</a:t>
            </a:r>
          </a:p>
          <a:p>
            <a:pPr>
              <a:spcAft>
                <a:spcPts val="1600"/>
              </a:spcAft>
              <a:defRPr sz="2200" b="1">
                <a:solidFill>
                  <a:srgbClr val="002868"/>
                </a:solidFill>
              </a:defRPr>
            </a:pPr>
            <a:r>
              <a:t>Which Files Are Used for Why</a:t>
            </a:r>
          </a:p>
          <a:p>
            <a:pPr>
              <a:spcAft>
                <a:spcPts val="1400"/>
              </a:spcAft>
              <a:defRPr sz="1500">
                <a:solidFill>
                  <a:srgbClr val="1E293B"/>
                </a:solidFill>
              </a:defRPr>
            </a:pPr>
            <a:r>
              <a:t>• Crypt.java: KeyStore &amp; AES-128 GCM encryption/decryption engine.</a:t>
            </a:r>
          </a:p>
          <a:p>
            <a:pPr>
              <a:spcAft>
                <a:spcPts val="1400"/>
              </a:spcAft>
              <a:defRPr sz="1500">
                <a:solidFill>
                  <a:srgbClr val="1E293B"/>
                </a:solidFill>
              </a:defRPr>
            </a:pPr>
            <a:r>
              <a:t>• Db.java: SQLite database helper managing sandboxed app.db.</a:t>
            </a:r>
          </a:p>
          <a:p>
            <a:pPr>
              <a:spcAft>
                <a:spcPts val="1400"/>
              </a:spcAft>
              <a:defRPr sz="1500">
                <a:solidFill>
                  <a:srgbClr val="1E293B"/>
                </a:solidFill>
              </a:defRPr>
            </a:pPr>
            <a:r>
              <a:t>• EditActivity.java &amp; activity_edit.xml: Credential setup vault with outlined fields &amp; eye toggle.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72784" y="1691640"/>
            <a:ext cx="5175504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47104" y="1920240"/>
            <a:ext cx="4626864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4A90E2"/>
                </a:solidFill>
              </a:defRPr>
            </a:pPr>
            <a:r>
              <a:t>SECURITY &amp; TECH STACK</a:t>
            </a:r>
          </a:p>
          <a:p>
            <a:pPr>
              <a:spcAft>
                <a:spcPts val="1600"/>
              </a:spcAft>
              <a:defRPr sz="2200" b="1">
                <a:solidFill>
                  <a:srgbClr val="002868"/>
                </a:solidFill>
              </a:defRPr>
            </a:pPr>
            <a:r>
              <a:t>Basic Idea of What Is Happening</a:t>
            </a:r>
          </a:p>
          <a:p>
            <a:pPr>
              <a:spcAft>
                <a:spcPts val="1400"/>
              </a:spcAft>
              <a:defRPr sz="1500">
                <a:solidFill>
                  <a:srgbClr val="1E293B"/>
                </a:solidFill>
              </a:defRPr>
            </a:pPr>
            <a:r>
              <a:t>• 1. KeyStore Cryptography: Master key generated inside hardware TEE; encrypts passwords via AES-128 GCM.</a:t>
            </a:r>
          </a:p>
          <a:p>
            <a:pPr>
              <a:spcAft>
                <a:spcPts val="1400"/>
              </a:spcAft>
              <a:defRPr sz="1500">
                <a:solidFill>
                  <a:srgbClr val="1E293B"/>
                </a:solidFill>
              </a:defRPr>
            </a:pPr>
            <a:r>
              <a:t>• 2. SQLite Vault Storage: Stores Base64(IV):Base64(Ciphertext) in TABLE acc (site, user, pass).</a:t>
            </a:r>
          </a:p>
          <a:p>
            <a:pPr>
              <a:spcAft>
                <a:spcPts val="1400"/>
              </a:spcAft>
              <a:defRPr sz="1500">
                <a:solidFill>
                  <a:srgbClr val="1E293B"/>
                </a:solidFill>
              </a:defRPr>
            </a:pPr>
            <a:r>
              <a:t>• 3. Tech Stack: Java SE 11, Android SDK (API 24-34), SQLite, Android KeyStore, Material Design 3.</a:t>
            </a:r>
          </a:p>
          <a:p>
            <a:pPr>
              <a:spcAft>
                <a:spcPts val="1400"/>
              </a:spcAft>
              <a:defRPr sz="1500">
                <a:solidFill>
                  <a:srgbClr val="1E293B"/>
                </a:solidFill>
              </a:defRPr>
            </a:pPr>
            <a:r>
              <a:t>• 4. UI System Insets: WindowInsetsControllerCompat dynamically adjusts status bar icon contrast.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