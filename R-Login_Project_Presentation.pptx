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082C6E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</a:defRPr>
            </a:pPr>
            <a:r>
              <a:t>R-LOGIN</a:t>
            </a:r>
          </a:p>
          <a:p>
            <a:pPr>
              <a:spcAft>
                <a:spcPts val="2000"/>
              </a:spcAft>
              <a:defRPr sz="2800" b="1">
                <a:solidFill>
                  <a:srgbClr val="4A90E2"/>
                </a:solidFill>
              </a:defRPr>
            </a:pPr>
            <a:r>
              <a:t>Campus Connectivity &amp; Credential Manager</a:t>
            </a:r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r>
              <a:t>A Secure Android Application for One-Tap Campus Access &amp; Attendance Analytics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Tech Stack: Java SE 11  |  Android SDK (API 24-34)  |  AES-128 GCM  |  Android KeyStore  |  SQLite  |  Material 3</a:t>
            </a:r>
          </a:p>
          <a:p>
            <a:pPr>
              <a:defRPr sz="1600" b="1">
                <a:solidFill>
                  <a:srgbClr val="4A90E2"/>
                </a:solidFill>
              </a:defRPr>
            </a:pPr>
            <a:r>
              <a:t>Master of Computer Applications (MCA) — Academic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868"/>
                </a:solidFill>
              </a:defRPr>
            </a:pPr>
            <a:r>
              <a:t>M-WiFi Module — Architecture &amp; How It Works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Asynchronous HTTP captive portal POST protocol &amp; class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CLASS STRUCTURE &amp; ROLES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Module Classes &amp; Responsibilities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Net.java: Background networking engine containing loginWifi(context, user, pass).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MainActivity.java: Initiates connection flow on 'Connect' button tap.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Db.java: Queries local SQLite vault for stored 'WIFI' credentials.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Crypt.java: Decrypts password in-memory using AES-GCM KeyStore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NETWORK PROTOCOL &amp; THREADING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Execution Protocol &amp; Flow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Async Concurrency: Executes off UI thread via Executors.newSingleThreadExecutor().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HTTP POST Payload: Uses HttpURLConnection to POST mode=191&amp;username=...&amp;password=...&amp;a=timestamp&amp;producttype=0 to http://172.16.0.20:8090/login.xml.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XML Payload Evaluation: Parses response for &lt;status&gt;LIVE&lt;/status&gt; vs &lt;status&gt;LOGIN/REJECTED&lt;/status&gt;.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UI Thread Postback: Handler(Looper.getMainLooper()).post() displays Toast status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868"/>
                </a:solidFill>
              </a:defRPr>
            </a:pPr>
            <a:r>
              <a:t>Web Portals &amp; Attendance Analytics — Fedena &amp; LMS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Automated sign-in, DOM scraping bridge &amp; attendance derivation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WEB AUTO-LOGIN &amp; CSRF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Fedena &amp; LMS Auto-Login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WebActivity.java: Custom browser activity with Material 3 Toolbar &amp; 'Open in Chrome' option.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CSRF Preservation: Injects credentials into native form context (#user_username, #user_password), preserving Rails authenticity_token.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Logout Safety Guard: autoLoggedIn boolean flag restricts injection to initial launch, allowing normal logout.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920240"/>
            <a:ext cx="46268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90E2"/>
                </a:solidFill>
              </a:defRPr>
            </a:pPr>
            <a:r>
              <a:t>DOM SCRAPING &amp; ALGORITHM</a:t>
            </a:r>
          </a:p>
          <a:p>
            <a:pPr>
              <a:spcAft>
                <a:spcPts val="1600"/>
              </a:spcAft>
              <a:defRPr sz="2200" b="1">
                <a:solidFill>
                  <a:srgbClr val="002868"/>
                </a:solidFill>
              </a:defRPr>
            </a:pPr>
            <a:r>
              <a:t>Attendance Report Engine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ReportActivity.java, ReportAdapter.java, SubjectItem.java: Native card list architecture.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textContent DOM Resolution: Uses textContent in offscreen WebView to extract data without layout rendering.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Total Classes Held Algorithm: T = Round((Attended / Pct) * 100).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Sticky Header Toggle: Pinned MaterialButtonToggleGroup [Without OD | With Duty Leave] switch stays fixed at 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868"/>
                </a:solidFill>
              </a:defRPr>
            </a:pPr>
            <a:r>
              <a:t>CS Concepts &amp; Security Pipeline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AES-128 GCM cryptography, sandboxed SQLite storage &amp; system window insets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A90E2"/>
                </a:solidFill>
              </a:defRPr>
            </a:pPr>
            <a:r>
              <a:t>HARDWARE CRYPTOGRAPHY</a:t>
            </a:r>
          </a:p>
          <a:p>
            <a:pPr>
              <a:spcAft>
                <a:spcPts val="1400"/>
              </a:spcAft>
              <a:defRPr sz="2000" b="1">
                <a:solidFill>
                  <a:srgbClr val="002868"/>
                </a:solidFill>
              </a:defRPr>
            </a:pPr>
            <a:r>
              <a:t>Crypt.java &amp; KeyStore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Android KeyStore API: Master key generated inside hardware TEE (Trusted Execution Environment).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AES-128 GCM Mode: Cipher (AES/GCM/NoPadding) providing confidentiality and authentication.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IV Serialization: Stored as Base64(IV) : Base64(Ciphertext). Passwords decrypted in-memory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A90E2"/>
                </a:solidFill>
              </a:defRPr>
            </a:pPr>
            <a:r>
              <a:t>LOCAL STORAGE VAULT</a:t>
            </a:r>
          </a:p>
          <a:p>
            <a:pPr>
              <a:spcAft>
                <a:spcPts val="1400"/>
              </a:spcAft>
              <a:defRPr sz="2000" b="1">
                <a:solidFill>
                  <a:srgbClr val="002868"/>
                </a:solidFill>
              </a:defRPr>
            </a:pPr>
            <a:r>
              <a:t>Db.java &amp; SQLite Schema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Sandboxed Database: SQLiteOpenHelper managing /data/data/.../app.db.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Table Schema: CREATE TABLE acc (site TEXT PRIMARY KEY, user TEXT, pass TEXT).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Atomic Updates: db.replace() guarantees thread-safe, atomic credential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916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A90E2"/>
                </a:solidFill>
              </a:defRPr>
            </a:pPr>
            <a:r>
              <a:t>MATERIAL 3 &amp; SYSTEM INSETS</a:t>
            </a:r>
          </a:p>
          <a:p>
            <a:pPr>
              <a:spcAft>
                <a:spcPts val="1400"/>
              </a:spcAft>
              <a:defRPr sz="2000" b="1">
                <a:solidFill>
                  <a:srgbClr val="002868"/>
                </a:solidFill>
              </a:defRPr>
            </a:pPr>
            <a:r>
              <a:t>UI Systems &amp; Insets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Window Insets: WindowInsetsControllerCompat.setAppearanceLightStatusBars(!isDark) toggles status bar icon contrast.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Deep Navy Branding: #002868 primary palette across Light &amp; Dark surface themes.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2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2868"/>
                </a:solidFill>
              </a:defRPr>
            </a:pPr>
            <a:r>
              <a:t>Tech Stack &amp; System Architecture Summary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Technical stack specification and end-to-end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48097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90E2"/>
                </a:solidFill>
              </a:defRPr>
            </a:pPr>
            <a:r>
              <a:t>PROGRAMMING &amp; PLATFORM</a:t>
            </a:r>
          </a:p>
          <a:p>
            <a:pPr>
              <a:spcAft>
                <a:spcPts val="400"/>
              </a:spcAft>
              <a:defRPr sz="1700" b="1">
                <a:solidFill>
                  <a:srgbClr val="002868"/>
                </a:solidFill>
              </a:defRPr>
            </a:pPr>
            <a:r>
              <a:t>Tech Stack Specification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Language: Pure Java (Java SE 11)</a:t>
            </a:r>
            <a:br/>
            <a:r>
              <a:t>• Target SDK: Android SDK (API 24-34 / Android 7.0 - 14)</a:t>
            </a:r>
            <a:br/>
            <a:r>
              <a:t>• Database: SQLite (SQLiteOpenHelper)</a:t>
            </a:r>
            <a:br/>
            <a:r>
              <a:t>• Cryptography: AES-128 GCM + Android KeyStore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801368"/>
            <a:ext cx="48097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90E2"/>
                </a:solidFill>
              </a:defRPr>
            </a:pPr>
            <a:r>
              <a:t>NETWORKING &amp; WEB INTEROP</a:t>
            </a:r>
          </a:p>
          <a:p>
            <a:pPr>
              <a:spcAft>
                <a:spcPts val="400"/>
              </a:spcAft>
              <a:defRPr sz="1700" b="1">
                <a:solidFill>
                  <a:srgbClr val="002868"/>
                </a:solidFill>
              </a:defRPr>
            </a:pPr>
            <a:r>
              <a:t>Communication Technologies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Captive Portal Auth: HttpURLConnection (Background Executor)</a:t>
            </a:r>
            <a:br/>
            <a:r>
              <a:t>• Web Auto-Login: WebView + JavaScript Form Injection</a:t>
            </a:r>
            <a:br/>
            <a:r>
              <a:t>• DOM Scraping Bridge: JavascriptInterface (@JavascriptInterface)</a:t>
            </a:r>
            <a:br/>
            <a:r>
              <a:t>• Data Transport: JSON Payloads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33088"/>
            <a:ext cx="48097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90E2"/>
                </a:solidFill>
              </a:defRPr>
            </a:pPr>
            <a:r>
              <a:t>UI / UX DESIGN PATTERNS</a:t>
            </a:r>
          </a:p>
          <a:p>
            <a:pPr>
              <a:spcAft>
                <a:spcPts val="400"/>
              </a:spcAft>
              <a:defRPr sz="1700" b="1">
                <a:solidFill>
                  <a:srgbClr val="002868"/>
                </a:solidFill>
              </a:defRPr>
            </a:pPr>
            <a:r>
              <a:t>Material 3 Component System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Dashboard: MaterialCardView with dynamic status chips</a:t>
            </a:r>
            <a:br/>
            <a:r>
              <a:t>• Vault: Outlined text fields with password eye toggles</a:t>
            </a:r>
            <a:br/>
            <a:r>
              <a:t>• Reports: RecyclerView + Sticky MaterialButtonToggleGroup</a:t>
            </a:r>
            <a:br/>
            <a:r>
              <a:t>• System Bar Tinting: WindowInsetsControllerCompat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02336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4133088"/>
            <a:ext cx="48097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90E2"/>
                </a:solidFill>
              </a:defRPr>
            </a:pPr>
            <a:r>
              <a:t>SYSTEM ARCHITECTURE FLOW</a:t>
            </a:r>
          </a:p>
          <a:p>
            <a:pPr>
              <a:spcAft>
                <a:spcPts val="400"/>
              </a:spcAft>
              <a:defRPr sz="1700" b="1">
                <a:solidFill>
                  <a:srgbClr val="002868"/>
                </a:solidFill>
              </a:defRPr>
            </a:pPr>
            <a:r>
              <a:t>End-to-End Data Pipeline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User Action (Dashboard)</a:t>
            </a:r>
            <a:br/>
            <a:r>
              <a:t>  └──&gt; Decrypt Credentials (Crypt.java / KeyStore)</a:t>
            </a:r>
            <a:br/>
            <a:r>
              <a:t>        └──&gt; Background Worker (Net.java / Web Bridge)</a:t>
            </a:r>
            <a:br/>
            <a:r>
              <a:t>              └──&gt; DOM Scrape / Parse JSON</a:t>
            </a:r>
            <a:br/>
            <a:r>
              <a:t>                    └──&gt; Render Native Material 3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